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8" r:id="rId7"/>
    <p:sldId id="269" r:id="rId8"/>
    <p:sldId id="260" r:id="rId9"/>
    <p:sldId id="27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2802C-2624-4B35-8909-B860D7B85B8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51E5A-0174-4B0F-A477-AF584648E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077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173324-CDED-304D-4A1A-69F73134F3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874" y="58592"/>
            <a:ext cx="1146464" cy="114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13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02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35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64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74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34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203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5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56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04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0FBA5502-904E-4EB6-BE4A-3A6B43AB7CA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5F95DB40-A3C0-4760-A3A6-BC34012B4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2674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9D1ED6-64F1-440B-D175-CE3D69FFEE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5759" y="236822"/>
            <a:ext cx="14346862" cy="6384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38521A-82BA-FAAA-3BD4-138250B208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Airline Passenger Satisfaction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CAE56B-2A24-F296-D7A2-092E806AEE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Course:</a:t>
            </a:r>
            <a:r>
              <a:rPr lang="en-US" dirty="0">
                <a:solidFill>
                  <a:schemeClr val="bg1"/>
                </a:solidFill>
              </a:rPr>
              <a:t> Data Science with R Programming</a:t>
            </a:r>
          </a:p>
          <a:p>
            <a:pPr algn="l"/>
            <a:r>
              <a:rPr lang="en-IN" b="1" dirty="0">
                <a:solidFill>
                  <a:schemeClr val="bg1"/>
                </a:solidFill>
              </a:rPr>
              <a:t>Presented by:</a:t>
            </a:r>
            <a:r>
              <a:rPr lang="en-IN" dirty="0">
                <a:solidFill>
                  <a:schemeClr val="bg1"/>
                </a:solidFill>
              </a:rPr>
              <a:t> Abhinav Pradhan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33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8117F4-3043-50D2-0BF1-690A8716E1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743" y="723511"/>
            <a:ext cx="7211725" cy="54018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FFD463-DD0A-C0B1-8DB5-1FA021F2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28737-38DE-0555-49FD-B98109368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Objective: </a:t>
            </a:r>
            <a:r>
              <a:rPr lang="en-IN" dirty="0" err="1">
                <a:solidFill>
                  <a:schemeClr val="tx1"/>
                </a:solidFill>
              </a:rPr>
              <a:t>Analyze</a:t>
            </a:r>
            <a:r>
              <a:rPr lang="en-IN" dirty="0">
                <a:solidFill>
                  <a:schemeClr val="tx1"/>
                </a:solidFill>
              </a:rPr>
              <a:t> airline passenger satisfaction using R.</a:t>
            </a:r>
          </a:p>
          <a:p>
            <a:r>
              <a:rPr lang="en-IN" b="1" dirty="0">
                <a:solidFill>
                  <a:schemeClr val="tx1"/>
                </a:solidFill>
              </a:rPr>
              <a:t>Dataset size: </a:t>
            </a:r>
            <a:r>
              <a:rPr lang="en-IN" dirty="0">
                <a:solidFill>
                  <a:schemeClr val="tx1"/>
                </a:solidFill>
              </a:rPr>
              <a:t>~130K rows</a:t>
            </a:r>
          </a:p>
          <a:p>
            <a:r>
              <a:rPr lang="en-IN" b="1" dirty="0">
                <a:solidFill>
                  <a:schemeClr val="tx1"/>
                </a:solidFill>
              </a:rPr>
              <a:t>Phases: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Data Cleaning Exploratory.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Data Analysis (EDA).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Graphical Reports.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Business Decisions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17832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F59EA-72F7-867E-C4F9-44BB5018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Phase 1 — Data Cleaning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F0D2-CA82-EFC2-75AE-607FF22C1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0009" cy="512064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Objective: </a:t>
            </a:r>
            <a:r>
              <a:rPr lang="en-US" dirty="0">
                <a:solidFill>
                  <a:schemeClr val="tx1"/>
                </a:solidFill>
              </a:rPr>
              <a:t>Prepare the dataset for analysis by handling missing values, irrelevant columns, and scaling.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>
                <a:solidFill>
                  <a:schemeClr val="tx1"/>
                </a:solidFill>
              </a:rPr>
              <a:t>Target Encoding: </a:t>
            </a:r>
            <a:r>
              <a:rPr lang="en-US" dirty="0">
                <a:solidFill>
                  <a:schemeClr val="tx1"/>
                </a:solidFill>
              </a:rPr>
              <a:t>Satisfaction column converted to binary: Satisfied = 1, Dissatisfied/Neutral = 0.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2BE798-FD8D-B152-5D7C-50B336939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377" y="2120359"/>
            <a:ext cx="5121697" cy="21191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6941DB-4A3A-4A87-94B7-3F1B46A2876C}"/>
              </a:ext>
            </a:extLst>
          </p:cNvPr>
          <p:cNvSpPr txBox="1"/>
          <p:nvPr/>
        </p:nvSpPr>
        <p:spPr>
          <a:xfrm>
            <a:off x="3982065" y="2012719"/>
            <a:ext cx="26584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Steps:</a:t>
            </a:r>
          </a:p>
          <a:p>
            <a:r>
              <a:rPr lang="en-US" b="1" dirty="0"/>
              <a:t>Missing Values:</a:t>
            </a:r>
          </a:p>
          <a:p>
            <a:r>
              <a:rPr lang="en-US" dirty="0"/>
              <a:t>Checked with </a:t>
            </a:r>
            <a:r>
              <a:rPr lang="en-US" b="1" i="1" dirty="0" err="1"/>
              <a:t>colSums</a:t>
            </a:r>
            <a:r>
              <a:rPr lang="en-US" b="1" i="1" dirty="0"/>
              <a:t>(is.na(</a:t>
            </a:r>
            <a:r>
              <a:rPr lang="en-US" b="1" i="1" dirty="0" err="1"/>
              <a:t>df</a:t>
            </a:r>
            <a:r>
              <a:rPr lang="en-US" b="1" i="1" dirty="0"/>
              <a:t>)).</a:t>
            </a:r>
          </a:p>
          <a:p>
            <a:r>
              <a:rPr lang="en-US" dirty="0"/>
              <a:t>Found NAs in Arrival Delay in Minutes → replaced with 0 (or median).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3450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ED1D2-FF4C-6373-DD84-00559864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Phase 1 — Data Cleaning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FF71A-44A4-8409-273E-BDDC705FEA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arenR" startAt="3"/>
            </a:pPr>
            <a:r>
              <a:rPr lang="en-US" sz="1800" b="1" dirty="0">
                <a:solidFill>
                  <a:schemeClr val="tx1"/>
                </a:solidFill>
              </a:rPr>
              <a:t>Class Imbalance Check: </a:t>
            </a:r>
            <a:r>
              <a:rPr lang="en-US" sz="1800" dirty="0">
                <a:solidFill>
                  <a:schemeClr val="tx1"/>
                </a:solidFill>
              </a:rPr>
              <a:t>Used </a:t>
            </a:r>
            <a:r>
              <a:rPr lang="en-US" sz="1800" b="1" i="1" dirty="0" err="1">
                <a:solidFill>
                  <a:schemeClr val="tx1"/>
                </a:solidFill>
              </a:rPr>
              <a:t>prop.table</a:t>
            </a:r>
            <a:r>
              <a:rPr lang="en-US" sz="1800" b="1" i="1" dirty="0">
                <a:solidFill>
                  <a:schemeClr val="tx1"/>
                </a:solidFill>
              </a:rPr>
              <a:t>(table(</a:t>
            </a:r>
            <a:r>
              <a:rPr lang="en-US" sz="1800" b="1" i="1" dirty="0" err="1">
                <a:solidFill>
                  <a:schemeClr val="tx1"/>
                </a:solidFill>
              </a:rPr>
              <a:t>df$satisfaction</a:t>
            </a:r>
            <a:r>
              <a:rPr lang="en-US" sz="1800" b="1" i="1" dirty="0">
                <a:solidFill>
                  <a:schemeClr val="tx1"/>
                </a:solidFill>
              </a:rPr>
              <a:t>)) </a:t>
            </a:r>
            <a:r>
              <a:rPr lang="en-US" sz="1800" dirty="0">
                <a:solidFill>
                  <a:schemeClr val="tx1"/>
                </a:solidFill>
              </a:rPr>
              <a:t>to measure ratio of satisfied vs dissatisfied passengers.</a:t>
            </a:r>
          </a:p>
          <a:p>
            <a:pPr marL="457200" indent="-457200">
              <a:buAutoNum type="arabicParenR" startAt="4"/>
            </a:pPr>
            <a:r>
              <a:rPr lang="en-US" sz="1800" b="1" dirty="0">
                <a:solidFill>
                  <a:schemeClr val="tx1"/>
                </a:solidFill>
              </a:rPr>
              <a:t>Irrelevant Columns Removed: </a:t>
            </a:r>
            <a:r>
              <a:rPr lang="en-US" sz="1800" dirty="0">
                <a:solidFill>
                  <a:schemeClr val="tx1"/>
                </a:solidFill>
              </a:rPr>
              <a:t>Dropped id and Unnamed:0.</a:t>
            </a:r>
          </a:p>
          <a:p>
            <a:pPr marL="457200" indent="-457200">
              <a:buAutoNum type="arabicParenR" startAt="5"/>
            </a:pPr>
            <a:r>
              <a:rPr lang="en-US" sz="1800" b="1" dirty="0">
                <a:solidFill>
                  <a:schemeClr val="tx1"/>
                </a:solidFill>
              </a:rPr>
              <a:t>Normalization: </a:t>
            </a:r>
            <a:r>
              <a:rPr lang="en-US" sz="1800" dirty="0">
                <a:solidFill>
                  <a:schemeClr val="tx1"/>
                </a:solidFill>
              </a:rPr>
              <a:t>Rating columns (0–5 scale) normalized using Min-Max scaling → ensures fair comparison across services.</a:t>
            </a:r>
            <a:endParaRPr lang="en-IN" sz="1800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E682A8-4DF8-C789-0E0C-C80D564A5F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483" y="1666406"/>
            <a:ext cx="3702092" cy="271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7587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7B4F-6209-2EF7-B777-7BA68D0BF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2 — Exploratory Data Analysis (EDA)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C1304-97BA-F0E9-19C1-1D67C08AC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effectLst/>
              </a:rPr>
              <a:t>Objective:</a:t>
            </a:r>
            <a:r>
              <a:rPr lang="en-US" dirty="0">
                <a:solidFill>
                  <a:schemeClr val="tx1"/>
                </a:solidFill>
                <a:effectLst/>
              </a:rPr>
              <a:t> Discover patterns and insights in passenger satisfaction. </a:t>
            </a:r>
            <a:r>
              <a:rPr lang="en-US" b="1" dirty="0">
                <a:solidFill>
                  <a:schemeClr val="tx1"/>
                </a:solidFill>
                <a:effectLst/>
              </a:rPr>
              <a:t>Key Analyses: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effectLst/>
              </a:rPr>
              <a:t>Passenger Satisfaction Percentage: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  <a:effectLst/>
              </a:rPr>
              <a:t>Counted satisfied vs dissatisfied passengers → calculated proportions.</a:t>
            </a:r>
          </a:p>
          <a:p>
            <a:pPr lvl="1"/>
            <a:endParaRPr lang="en-US" dirty="0">
              <a:solidFill>
                <a:schemeClr val="tx1"/>
              </a:solidFill>
              <a:effectLst/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  <a:effectLst/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effectLst/>
              </a:rPr>
              <a:t>Average Age by Travel Class: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  <a:effectLst/>
              </a:rPr>
              <a:t>Grouped by </a:t>
            </a:r>
            <a:r>
              <a:rPr lang="en-US" i="1" dirty="0">
                <a:solidFill>
                  <a:schemeClr val="tx1"/>
                </a:solidFill>
                <a:effectLst/>
              </a:rPr>
              <a:t>Class</a:t>
            </a:r>
            <a:r>
              <a:rPr lang="en-US" dirty="0">
                <a:solidFill>
                  <a:schemeClr val="tx1"/>
                </a:solidFill>
                <a:effectLst/>
              </a:rPr>
              <a:t> (Business, Eco, Eco Plus) → compared mean ages</a:t>
            </a:r>
            <a:r>
              <a:rPr lang="en-US" dirty="0">
                <a:effectLst/>
              </a:rPr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>
              <a:effectLst/>
            </a:endParaRPr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0A2D68-7323-F2F7-5DB4-828F324B8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205" y="2339058"/>
            <a:ext cx="5693797" cy="9548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78F936-4DD5-577D-D853-3F69D4E4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205" y="4430065"/>
            <a:ext cx="5829805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7331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772C-465A-F384-579D-527728C0D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2 — Exploratory Data Analysis (EDA)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04715-313E-F03F-F24F-EFA6A0ABA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Lowest Rated Service: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Calculated mean ratings across services (</a:t>
            </a:r>
            <a:r>
              <a:rPr lang="en-US" dirty="0" err="1">
                <a:solidFill>
                  <a:schemeClr val="tx1"/>
                </a:solidFill>
              </a:rPr>
              <a:t>WiFi</a:t>
            </a:r>
            <a:r>
              <a:rPr lang="en-US" dirty="0">
                <a:solidFill>
                  <a:schemeClr val="tx1"/>
                </a:solidFill>
              </a:rPr>
              <a:t>, Food, Seat Comfort, etc.) → identified weakest service.</a:t>
            </a:r>
          </a:p>
          <a:p>
            <a:pPr lvl="1"/>
            <a:endParaRPr lang="en-US" b="1" dirty="0">
              <a:solidFill>
                <a:schemeClr val="tx1"/>
              </a:solidFill>
            </a:endParaRPr>
          </a:p>
          <a:p>
            <a:pPr lvl="1"/>
            <a:endParaRPr lang="en-US" b="1" dirty="0">
              <a:solidFill>
                <a:schemeClr val="tx1"/>
              </a:solidFill>
            </a:endParaRPr>
          </a:p>
          <a:p>
            <a:pPr marL="502920" lvl="1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502920" lvl="1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502920" lvl="1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Flight Delays: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Average departure &amp; arrival delays computed.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Counted flights with </a:t>
            </a:r>
            <a:r>
              <a:rPr lang="en-US" i="1" dirty="0">
                <a:solidFill>
                  <a:schemeClr val="tx1"/>
                </a:solidFill>
              </a:rPr>
              <a:t>0 delay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7A05B-CB03-2462-CCAC-AC7649C9A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808" y="1862193"/>
            <a:ext cx="4496190" cy="1562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2CB1D2-18ED-0C63-417B-0095BCD10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08" y="4620024"/>
            <a:ext cx="3276884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60442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3007-EE6B-91EE-CC4B-7E93ED93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2 — Exploratory Data Analysis (EDA)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07572-E66B-F02E-B8DA-F1C33CEF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Satisfaction by Class: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Compared satisfaction rates across Business, Eco, Eco Plus.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Customer Loyalty: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Grouped by </a:t>
            </a:r>
            <a:r>
              <a:rPr lang="en-US" i="1" dirty="0">
                <a:solidFill>
                  <a:schemeClr val="tx1"/>
                </a:solidFill>
              </a:rPr>
              <a:t>Customer Type</a:t>
            </a:r>
            <a:r>
              <a:rPr lang="en-US" dirty="0">
                <a:solidFill>
                  <a:schemeClr val="tx1"/>
                </a:solidFill>
              </a:rPr>
              <a:t> (Loyal vs Disloyal) → measured satisfaction differences.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0EEC8-D368-159E-86FA-CD172175D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276" y="1970255"/>
            <a:ext cx="6043184" cy="1082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636445-A6DA-EF86-FE94-D6C3DD580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633" y="4346678"/>
            <a:ext cx="6729043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3134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77E8D-6C32-C533-6935-9C11D999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Phase 3 — Graphical Reports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6D9BE-B910-47EC-365A-DDF51255D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effectLst/>
              </a:rPr>
              <a:t>Objective:</a:t>
            </a:r>
            <a:r>
              <a:rPr lang="en-US" dirty="0">
                <a:solidFill>
                  <a:schemeClr val="tx1"/>
                </a:solidFill>
                <a:effectLst/>
              </a:rPr>
              <a:t> Visualize findings for better interpretation. </a:t>
            </a:r>
            <a:r>
              <a:rPr lang="en-US" b="1" dirty="0">
                <a:solidFill>
                  <a:schemeClr val="tx1"/>
                </a:solidFill>
                <a:effectLst/>
              </a:rPr>
              <a:t>Charts &amp; Plots: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effectLst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FF20E-09D3-CF1B-F7F7-69B9E835F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61"/>
          <a:stretch>
            <a:fillRect/>
          </a:stretch>
        </p:blipFill>
        <p:spPr>
          <a:xfrm>
            <a:off x="7211621" y="1922317"/>
            <a:ext cx="3684878" cy="18082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7F3010-91BE-CCFC-9092-E39EDD5126A2}"/>
              </a:ext>
            </a:extLst>
          </p:cNvPr>
          <p:cNvSpPr txBox="1"/>
          <p:nvPr/>
        </p:nvSpPr>
        <p:spPr>
          <a:xfrm>
            <a:off x="4000500" y="1849582"/>
            <a:ext cx="3231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1) Bar Chart:</a:t>
            </a:r>
            <a:r>
              <a:rPr lang="en-US" dirty="0"/>
              <a:t> Satisfaction rate by Customer Type (Loyal vs Disloyal).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A094BF-C898-3137-A253-5A6A10876EA6}"/>
              </a:ext>
            </a:extLst>
          </p:cNvPr>
          <p:cNvSpPr txBox="1"/>
          <p:nvPr/>
        </p:nvSpPr>
        <p:spPr>
          <a:xfrm>
            <a:off x="4020692" y="3758386"/>
            <a:ext cx="2909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2) Grouped Bar Chart:</a:t>
            </a:r>
            <a:r>
              <a:rPr lang="en-US" dirty="0"/>
              <a:t> Satisfaction by Class (Business/Eco/Eco Plus).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1E2FBF-FAAC-887D-A427-71655F567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967" y="3950255"/>
            <a:ext cx="3735532" cy="20344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50A458-034A-341E-8A6E-A32C55157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207" y="4824891"/>
            <a:ext cx="2795155" cy="285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4F327A-D21B-7EA4-D9E8-1E94E369B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6049" y="2911141"/>
            <a:ext cx="2934098" cy="27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97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D6E8-2ECF-1F31-7452-6B97C9D0B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Phase 3 — Graphical Reports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FB0A6-CA2C-59C7-7B23-CAD6232E7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Heatmap:</a:t>
            </a:r>
            <a:r>
              <a:rPr lang="en-US" dirty="0">
                <a:solidFill>
                  <a:schemeClr val="tx1"/>
                </a:solidFill>
              </a:rPr>
              <a:t> Correlation among service ratings → shows which services are linked.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Density Plot:</a:t>
            </a:r>
            <a:r>
              <a:rPr lang="en-US" dirty="0">
                <a:solidFill>
                  <a:schemeClr val="tx1"/>
                </a:solidFill>
              </a:rPr>
              <a:t> Flight distance distribution compared between satisfied vs dissatisfied passengers.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D51FA3-2F31-96BA-E680-1671E7251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2"/>
          <a:stretch>
            <a:fillRect/>
          </a:stretch>
        </p:blipFill>
        <p:spPr>
          <a:xfrm>
            <a:off x="6585467" y="1405954"/>
            <a:ext cx="3992479" cy="2018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F5EE31-4CA4-AEED-E08B-921BCCFB42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45"/>
          <a:stretch>
            <a:fillRect/>
          </a:stretch>
        </p:blipFill>
        <p:spPr>
          <a:xfrm>
            <a:off x="6585467" y="4376357"/>
            <a:ext cx="4086222" cy="201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9035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5E7A-831E-11B0-5282-2F60BDD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Phase 4 — Business Decisions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7F320-6BC8-0910-D4C1-71EE579C5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effectLst/>
              </a:rPr>
              <a:t>Objective:</a:t>
            </a:r>
            <a:r>
              <a:rPr lang="en-US" dirty="0">
                <a:solidFill>
                  <a:schemeClr val="tx1"/>
                </a:solidFill>
                <a:effectLst/>
              </a:rPr>
              <a:t> Translate insights into actionable strategies for airlines.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b="1" dirty="0">
                <a:solidFill>
                  <a:schemeClr val="tx1"/>
                </a:solidFill>
                <a:effectLst/>
              </a:rPr>
              <a:t>Recommendations: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effectLst/>
              </a:rPr>
              <a:t>Service Investment: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  <a:effectLst/>
              </a:rPr>
              <a:t>Improve lowest-rated services (often </a:t>
            </a:r>
            <a:r>
              <a:rPr lang="en-US" dirty="0" err="1">
                <a:solidFill>
                  <a:schemeClr val="tx1"/>
                </a:solidFill>
                <a:effectLst/>
              </a:rPr>
              <a:t>WiFi</a:t>
            </a:r>
            <a:r>
              <a:rPr lang="en-US" dirty="0">
                <a:solidFill>
                  <a:schemeClr val="tx1"/>
                </a:solidFill>
                <a:effectLst/>
              </a:rPr>
              <a:t> or Food).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effectLst/>
              </a:rPr>
              <a:t>Pricing Strategy: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  <a:effectLst/>
              </a:rPr>
              <a:t>Business Class shows higher satisfaction → premium pricing justified.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  <a:effectLst/>
              </a:rPr>
              <a:t>Economy Class needs service upgrades to justify cost.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effectLst/>
              </a:rPr>
              <a:t>Delay Management: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  <a:effectLst/>
              </a:rPr>
              <a:t>Satisfaction drops sharply when delays exceed 30–60 minutes.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  <a:effectLst/>
              </a:rPr>
              <a:t>Airlines should prioritize reducing delays to improve customer experience.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effectLst/>
              </a:rPr>
              <a:t>Customer Loyalty Programs: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  <a:effectLst/>
              </a:rPr>
              <a:t>Loyal customers are more satisfied → strengthen loyalty initiatives.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F73F2-B0E5-994C-C824-4536A33DF0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8"/>
          <a:stretch>
            <a:fillRect/>
          </a:stretch>
        </p:blipFill>
        <p:spPr>
          <a:xfrm>
            <a:off x="3539613" y="753971"/>
            <a:ext cx="8199411" cy="534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7785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0120F9-8CB4-48C3-E3B9-1FC11EA8B3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6074" y="742032"/>
            <a:ext cx="13804147" cy="53034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B6ACDF-9F70-D227-D2E4-12F0A3AE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52C7F-ADD4-ABAA-342F-AA6C7FF5F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Data-driven insights help airlines improve passenger satisfaction.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Loyal customers show higher satisfaction → strengthen loyalty programs.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Service quality and delay management are key drivers of satisfaction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Business Class satisfaction validates premium pricing strategy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10938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374F18-4288-A80E-86BD-FAB46A1092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1991"/>
          <a:stretch>
            <a:fillRect/>
          </a:stretch>
        </p:blipFill>
        <p:spPr>
          <a:xfrm>
            <a:off x="3556204" y="721441"/>
            <a:ext cx="9550195" cy="53481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8D903F-08BD-87D6-4BC1-E4484124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973EF-BD11-547F-5B97-09F4D1190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Dataset: Kaggle — </a:t>
            </a:r>
            <a:r>
              <a:rPr lang="en-IN" dirty="0">
                <a:solidFill>
                  <a:schemeClr val="tx1"/>
                </a:solidFill>
              </a:rPr>
              <a:t>Airline Passenger Satisfaction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Tools: </a:t>
            </a:r>
            <a:r>
              <a:rPr lang="en-IN" dirty="0">
                <a:solidFill>
                  <a:schemeClr val="tx1"/>
                </a:solidFill>
              </a:rPr>
              <a:t>R Programming (</a:t>
            </a:r>
            <a:r>
              <a:rPr lang="en-IN" dirty="0" err="1">
                <a:solidFill>
                  <a:schemeClr val="tx1"/>
                </a:solidFill>
              </a:rPr>
              <a:t>dplyr</a:t>
            </a:r>
            <a:r>
              <a:rPr lang="en-IN" dirty="0">
                <a:solidFill>
                  <a:schemeClr val="tx1"/>
                </a:solidFill>
              </a:rPr>
              <a:t>, ggplot2, reshape2)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Source: </a:t>
            </a:r>
            <a:r>
              <a:rPr lang="en-IN" dirty="0">
                <a:solidFill>
                  <a:schemeClr val="tx1"/>
                </a:solidFill>
              </a:rPr>
              <a:t>Project Lab Work</a:t>
            </a:r>
          </a:p>
        </p:txBody>
      </p:sp>
    </p:spTree>
    <p:extLst>
      <p:ext uri="{BB962C8B-B14F-4D97-AF65-F5344CB8AC3E}">
        <p14:creationId xmlns:p14="http://schemas.microsoft.com/office/powerpoint/2010/main" val="190274815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Fra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404</TotalTime>
  <Words>554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Corbel</vt:lpstr>
      <vt:lpstr>Wingdings 2</vt:lpstr>
      <vt:lpstr>Frame</vt:lpstr>
      <vt:lpstr>Airline Passenger Satisfaction</vt:lpstr>
      <vt:lpstr>Project Overview </vt:lpstr>
      <vt:lpstr>Phase 1 — Data Cleaning </vt:lpstr>
      <vt:lpstr>Phase 1 — Data Cleaning</vt:lpstr>
      <vt:lpstr>Phase 2 — Exploratory Data Analysis (EDA) </vt:lpstr>
      <vt:lpstr>Phase 2 — Exploratory Data Analysis (EDA)</vt:lpstr>
      <vt:lpstr>Phase 2 — Exploratory Data Analysis (EDA)</vt:lpstr>
      <vt:lpstr>Phase 3 — Graphical Reports </vt:lpstr>
      <vt:lpstr>Phase 3 — Graphical Reports  </vt:lpstr>
      <vt:lpstr>Phase 4 — Business Decisions </vt:lpstr>
      <vt:lpstr>Conclusion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Pradhan</dc:creator>
  <cp:lastModifiedBy>Abhinav Pradhan</cp:lastModifiedBy>
  <cp:revision>6</cp:revision>
  <dcterms:created xsi:type="dcterms:W3CDTF">2026-05-20T09:58:47Z</dcterms:created>
  <dcterms:modified xsi:type="dcterms:W3CDTF">2026-10-10T18:21:06Z</dcterms:modified>
</cp:coreProperties>
</file>